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Inflow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05 Oct</c:v>
                </c:pt>
                <c:pt idx="1">
                  <c:v>06 Oct</c:v>
                </c:pt>
                <c:pt idx="2">
                  <c:v>07 Oct</c:v>
                </c:pt>
                <c:pt idx="3">
                  <c:v>08 Oct</c:v>
                </c:pt>
                <c:pt idx="4">
                  <c:v>09 Oct</c:v>
                </c:pt>
                <c:pt idx="5">
                  <c:v>10 Oct</c:v>
                </c:pt>
                <c:pt idx="6">
                  <c:v>11 Oct</c:v>
                </c:pt>
                <c:pt idx="7">
                  <c:v>12 Oct</c:v>
                </c:pt>
                <c:pt idx="8">
                  <c:v>13 Oct</c:v>
                </c:pt>
                <c:pt idx="9">
                  <c:v>14 Oct</c:v>
                </c:pt>
                <c:pt idx="10">
                  <c:v>15 Oct</c:v>
                </c:pt>
                <c:pt idx="11">
                  <c:v>16 Oct</c:v>
                </c:pt>
                <c:pt idx="12">
                  <c:v>17 Oct</c:v>
                </c:pt>
                <c:pt idx="13">
                  <c:v>18 Oct</c:v>
                </c:pt>
                <c:pt idx="14">
                  <c:v>19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</c:v>
                </c:pt>
                <c:pt idx="1">
                  <c:v>2</c:v>
                </c:pt>
                <c:pt idx="2">
                  <c:v>0</c:v>
                </c:pt>
                <c:pt idx="3">
                  <c:v>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</c:v>
                </c:pt>
                <c:pt idx="8">
                  <c:v>4</c:v>
                </c:pt>
                <c:pt idx="9">
                  <c:v>2</c:v>
                </c:pt>
                <c:pt idx="10">
                  <c:v>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Outflow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05 Oct</c:v>
                </c:pt>
                <c:pt idx="1">
                  <c:v>06 Oct</c:v>
                </c:pt>
                <c:pt idx="2">
                  <c:v>07 Oct</c:v>
                </c:pt>
                <c:pt idx="3">
                  <c:v>08 Oct</c:v>
                </c:pt>
                <c:pt idx="4">
                  <c:v>09 Oct</c:v>
                </c:pt>
                <c:pt idx="5">
                  <c:v>10 Oct</c:v>
                </c:pt>
                <c:pt idx="6">
                  <c:v>11 Oct</c:v>
                </c:pt>
                <c:pt idx="7">
                  <c:v>12 Oct</c:v>
                </c:pt>
                <c:pt idx="8">
                  <c:v>13 Oct</c:v>
                </c:pt>
                <c:pt idx="9">
                  <c:v>14 Oct</c:v>
                </c:pt>
                <c:pt idx="10">
                  <c:v>15 Oct</c:v>
                </c:pt>
                <c:pt idx="11">
                  <c:v>16 Oct</c:v>
                </c:pt>
                <c:pt idx="12">
                  <c:v>17 Oct</c:v>
                </c:pt>
                <c:pt idx="13">
                  <c:v>18 Oct</c:v>
                </c:pt>
                <c:pt idx="14">
                  <c:v>19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5</c:v>
                </c:pt>
                <c:pt idx="8">
                  <c:v>3</c:v>
                </c:pt>
                <c:pt idx="9">
                  <c:v>1</c:v>
                </c:pt>
                <c:pt idx="10">
                  <c:v>4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SupportPulse-Analytics</a:t>
            </a:r>
          </a:p>
          <a:p>
            <a:pPr>
              <a:defRPr sz="1400">
                <a:solidFill>
                  <a:srgbClr val="D9E2F3"/>
                </a:solidFill>
              </a:defRPr>
            </a:pPr>
            <a:r>
              <a:t>Visual Management — Executive Status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Weekly Support Operations Review</a:t>
            </a:r>
          </a:p>
          <a:p>
            <a:pPr>
              <a:defRPr sz="1500">
                <a:solidFill>
                  <a:srgbClr val="2E75B6"/>
                </a:solidFill>
              </a:defRPr>
            </a:pPr>
            <a:r>
              <a:t>Reporting window: 45 days   |   140 tickets   |   MTTR 24.0 business hrs   |   SLA breach rate 10.1%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Generated 19 Oct 2026 11:55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Weekly Support Executive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486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Total tickets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Open / WIP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MTTR (business hrs)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23.96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MTTD (business hrs)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First response (hrs)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FCR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3.8%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SLA breach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10.1%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P50 resolution (hrs)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P85 resolution (hrs)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40.00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P95 resolution (hrs)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58.59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Throughput /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Inflow /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3.11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Backlog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+1.35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46304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P1-Critical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Amber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P2-High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Amber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Ticket Inflow vs. Outflow Trends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Top Recurring Defect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Tickets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MTTR (hrs)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Breach rate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Network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Web 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Reporting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Installer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Device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11.1%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Licensing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t>RF Measurement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Critical At-Risk Backlog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Runway (hrs)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Breach 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Waiting on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Waiting on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t>SUP-1077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P4-Low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r>
                        <a:t>SUP-1103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